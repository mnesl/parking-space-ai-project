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777240"/>
            <a:ext cx="4114800" cy="36576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AI ENGINEERING CAPSTONE  •  STAGES 1 –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800" b="1">
                <a:solidFill>
                  <a:srgbClr val="F8FAFC"/>
                </a:solidFill>
                <a:latin typeface="Segoe UI"/>
              </a:rPr>
              <a:t>AeroPark Smart Garage</a:t>
            </a:r>
          </a:p>
          <a:p>
            <a:pPr>
              <a:spcAft>
                <a:spcPts val="1200"/>
              </a:spcAft>
            </a:pPr>
            <a:r>
              <a:rPr sz="3000" b="1">
                <a:solidFill>
                  <a:srgbClr val="38BDF8"/>
                </a:solidFill>
                <a:latin typeface="Segoe UI"/>
              </a:rPr>
              <a:t>Intelligent Parking Reservation Chatbot</a:t>
            </a:r>
          </a:p>
          <a:p>
            <a:r>
              <a:rPr sz="1400" b="0">
                <a:solidFill>
                  <a:srgbClr val="94A3B8"/>
                </a:solidFill>
                <a:latin typeface="Segoe UI"/>
              </a:rPr>
              <a:t>Multi-Agent Architecture powered by Hybrid RAG (Pinecone + SQLite), 3-Wall PII Guardrails, Human-in-the-Loop (FastAPI), Model Context Protocol (MCP), and 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3557016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648456"/>
            <a:ext cx="2267712" cy="1938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STAGE 1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Hybrid RAG &amp; Guardrails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Pinecone Serverless + SQLite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3-Wall PII &amp; Injection Filter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90% Recall@3 • 100% Block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4290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21024" y="3557016"/>
            <a:ext cx="4114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3648456"/>
            <a:ext cx="2267712" cy="1938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C084FC"/>
                </a:solidFill>
                <a:latin typeface="Segoe UI"/>
              </a:rPr>
              <a:t>STAGE 2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Human-in-the-Loop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AdminEscalationAgent (Agent 2)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FastAPI REST Approval Portal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Async SQLite Ticket Queue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4290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5936" y="3557016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648456"/>
            <a:ext cx="2267712" cy="1938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34D399"/>
                </a:solidFill>
                <a:latin typeface="Segoe UI"/>
              </a:rPr>
              <a:t>STAGE 3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Secure MCP Server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FastMCP + HTTP Transport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Delimiter Injection Defense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Thread-Locked Ledger Writes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429000"/>
            <a:ext cx="2560320" cy="21945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70848" y="3557016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648456"/>
            <a:ext cx="2267712" cy="1938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50" b="1">
                <a:solidFill>
                  <a:srgbClr val="FBBF24"/>
                </a:solidFill>
                <a:latin typeface="Segoe UI"/>
              </a:rPr>
              <a:t>STAGE 4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LangGraph Orchestrator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3-Node Stateful Workflow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MemorySaver Checkpointing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120 Concurrent Load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7E1EE"/>
                </a:solidFill>
                <a:latin typeface="Segoe UI"/>
              </a:rPr>
              <a:t>Engineered by Merve Neslihan Okcu   |   Python 3.12+ • LangChain • LangGraph • Pinecone • SQLite • FastAPI • MCP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End-to-End Multi-Agent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Strict privilege separation across Customer RAG (Stage 1), Admin HITL (Stage 2), MCP Ledger (Stage 3), and LangGraph (Stage 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74720" cy="2651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73936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3182112" cy="2395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NODE 1: user_interaction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Stage 1 Customer RAG Agent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Answers policy/location FAQs via Pinecone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Queries live spaces &amp; rates via SQLite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Collects 4 booking slots (ReservationDraft)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Protected by 3-Wall PII &amp; Injection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2651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773936"/>
            <a:ext cx="4114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65376"/>
            <a:ext cx="3182112" cy="2395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C084FC"/>
                </a:solidFill>
                <a:latin typeface="Segoe UI"/>
              </a:rPr>
              <a:t>NODE 2: admin_approval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Stage 2 Admin HITL Agent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Receives validated Pydantic ReservationDraft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Enriches with live zone capacity snapshot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Creates PENDING ticket (REQ-XXXXXXXX)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Waits for Human CONFIRM / REFUSE via 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474720" cy="2651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2752" y="1773936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65376"/>
            <a:ext cx="3182112" cy="2395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NODE 3: data_recording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Stage 3 MCP Client &amp; Server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Triggered ONLY when status == CONFIRMED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Authenticates via X-MCP-Api-Key header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Validates against '|' &amp; newline injection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Appends to data/confirmed_reservations.txt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69080" y="2834640"/>
            <a:ext cx="228600" cy="292608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863840" y="2834640"/>
            <a:ext cx="228600" cy="292608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3474720" cy="1874519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654296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745736"/>
            <a:ext cx="3182112" cy="1618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🌲 Pinecone Serverless Vector DB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Stores static facility docs (location, EV rules)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Enforces metadata filter: is_public == 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526280"/>
            <a:ext cx="3474720" cy="1874519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07992" y="4654296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4745736"/>
            <a:ext cx="3182112" cy="1618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🗄️ SQLite Transactional Database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Live spaces (58/105), dynamic pricing &amp; hours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Persists async Stage 2 Admin approval queue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526280"/>
            <a:ext cx="3474720" cy="1874519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02752" y="4654296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4745736"/>
            <a:ext cx="3182112" cy="1618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📄 Atomic MCP Flat-File Ledger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Format: Name | Car # | Period | Approval Time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Protected by Python threading.Lock() + flush()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STAGE 1 • RAG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Hybrid RAG Architecture &amp; 3-Wall Sensitive Data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Combining semantic vector search with real-time relational SQL queries and multi-layered PII / prompt-injection defense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02352" cy="20299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⚡ Bonus Architecture: Why Hybrid RAG?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Static Docs (Pinecone): Directions, height limit (2.15m), EV rules, policies.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Chunking: RecursiveCharacterTextSplitter (size=550, overlap=80).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Dynamic State (SQLite): Live spaces (58/105), hourly/daily/EV rates &amp; hours.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Zero stale vector embeddings when space availability changes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69080"/>
            <a:ext cx="5394960" cy="233172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4197096"/>
            <a:ext cx="41148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4288536"/>
            <a:ext cx="5102352" cy="20756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📝 Interactive Multi-Turn Reservation Slot Collector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Strict Pydantic ReservationDraft validation across conversation turns: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   1. Name &amp; Surname (Customer identity validation)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   2. Car Number / Plate (Regex normalized: e.g., 34ABC123)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   3. Reservation Period (YYYY-MM-DD HH:MM to YYYY-MM-DD HH:MM)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Answers policy FAQs mid-booking without losing previously collected slots.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27632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1755648"/>
            <a:ext cx="4114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847088"/>
            <a:ext cx="5102352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🛡️ WALL 1: Input Prompt-Injection &amp; Probe Blocker</a:t>
            </a:r>
          </a:p>
          <a:p>
            <a:pPr>
              <a:spcAft>
                <a:spcPts val="3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Intercepts user messages BEFORE any LLM or database call.</a:t>
            </a:r>
          </a:p>
          <a:p>
            <a:pPr>
              <a:spcAft>
                <a:spcPts val="3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Blocks jailbreaks &amp; probes for SSNs, credit cards, master PINs, or VIP plates.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73552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3401568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493008"/>
            <a:ext cx="5102352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🛡️ WALL 2: Vector Metadata Filter &amp; Context Scrubber</a:t>
            </a:r>
          </a:p>
          <a:p>
            <a:pPr>
              <a:spcAft>
                <a:spcPts val="3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Enforces Pinecone filter={'is_public': True} to exclude internal audit docs.</a:t>
            </a:r>
          </a:p>
          <a:p>
            <a:pPr>
              <a:spcAft>
                <a:spcPts val="3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Applies Regex + NLP Entity Scrubber over retrieved chunks before prompting.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919472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5047488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5138928"/>
            <a:ext cx="5102352" cy="12252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🛡️ WALL 3: Output PII Redaction Gate</a:t>
            </a:r>
          </a:p>
          <a:p>
            <a:pPr>
              <a:spcAft>
                <a:spcPts val="3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Scans final assistant response before returning to the user.</a:t>
            </a:r>
          </a:p>
          <a:p>
            <a:pPr>
              <a:spcAft>
                <a:spcPts val="3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Redacts any SSN, credit card, password, or VIP plate into [REDACTED_*].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STAGE 1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Scientific RAG Evaluation: Recall@K, Precision@K &amp;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Automated benchmark suite (src/stage1_rag/evaluation.py) across golden factual queries and adversarial security probes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1721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2450591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38BDF8"/>
                </a:solidFill>
                <a:latin typeface="Segoe UI"/>
              </a:rPr>
              <a:t>90.0%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Mean Recall@3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Ground-truth doc in Top-3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27632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17213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719072"/>
            <a:ext cx="2450591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34D399"/>
                </a:solidFill>
                <a:latin typeface="Segoe UI"/>
              </a:rPr>
              <a:t>93.3%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Mean Precision@3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High signal-to-noise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27632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172135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719072"/>
            <a:ext cx="2450591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084FC"/>
                </a:solidFill>
                <a:latin typeface="Segoe UI"/>
              </a:rPr>
              <a:t>100.0%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Factual Accuracy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Zero hallucinated rates/policies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627632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172135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719072"/>
            <a:ext cx="2450591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B7185"/>
                </a:solidFill>
                <a:latin typeface="Segoe UI"/>
              </a:rPr>
              <a:t>100.0%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Guardrail Block Rate</a:t>
            </a:r>
          </a:p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Zero PII / SSN / PIN leaks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11064240" cy="448056"/>
          </a:xfrm>
          <a:prstGeom prst="rect">
            <a:avLst/>
          </a:prstGeom>
          <a:solidFill>
            <a:srgbClr val="1E2945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255264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Query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255264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255264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1">
                <a:solidFill>
                  <a:srgbClr val="38BDF8"/>
                </a:solidFill>
                <a:latin typeface="Segoe UI"/>
              </a:rPr>
              <a:t>Benchmark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3255264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Recall@3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255264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Precision@3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3255264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3255264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Latency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66744"/>
            <a:ext cx="11064240" cy="448056"/>
          </a:xfrm>
          <a:prstGeom prst="rect">
            <a:avLst/>
          </a:prstGeom>
          <a:solidFill>
            <a:srgbClr val="1B263E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703320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Q1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703320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Static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3703320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Segoe UI"/>
              </a:rPr>
              <a:t>Where is AeroPark located &amp; highway exit?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703320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3703320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3703320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3703320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4.05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14800"/>
            <a:ext cx="11064240" cy="448056"/>
          </a:xfrm>
          <a:prstGeom prst="rect">
            <a:avLst/>
          </a:prstGeom>
          <a:solidFill>
            <a:srgbClr val="141D30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151376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Q2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4151376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Static 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151376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Segoe UI"/>
              </a:rPr>
              <a:t>Max vehicle height clearance &amp; LPG policy?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4151376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4151376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4151376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4151376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1.77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562856"/>
            <a:ext cx="11064240" cy="448056"/>
          </a:xfrm>
          <a:prstGeom prst="rect">
            <a:avLst/>
          </a:prstGeom>
          <a:solidFill>
            <a:srgbClr val="1B263E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599432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Q3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6192" y="4599432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Hybrid 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4599432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Segoe UI"/>
              </a:rPr>
              <a:t>Hourly/daily rates &amp; how many spaces open?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4599432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1" y="4599432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4599432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05872" y="4599432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1.47 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10912"/>
            <a:ext cx="11064240" cy="448056"/>
          </a:xfrm>
          <a:prstGeom prst="rect">
            <a:avLst/>
          </a:prstGeom>
          <a:solidFill>
            <a:srgbClr val="141D30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047488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Q4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047488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Static RAG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5047488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Segoe UI"/>
              </a:rPr>
              <a:t>How does booking work &amp; grace period?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5047488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5047488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5047488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5872" y="5047488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1.56 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458968"/>
            <a:ext cx="11064240" cy="448056"/>
          </a:xfrm>
          <a:prstGeom prst="rect">
            <a:avLst/>
          </a:prstGeom>
          <a:solidFill>
            <a:srgbClr val="1B263E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495544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Q5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6192" y="5495544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Static RAG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16352" y="5495544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0">
                <a:solidFill>
                  <a:srgbClr val="D7E1EE"/>
                </a:solidFill>
                <a:latin typeface="Segoe UI"/>
              </a:rPr>
              <a:t>EV fast chargers on Level B1 &amp; kWh fee?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1152" y="5495544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31" y="5495544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0.67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5495544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05872" y="5495544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0">
                <a:solidFill>
                  <a:srgbClr val="D7E1EE"/>
                </a:solidFill>
                <a:latin typeface="Segoe UI"/>
              </a:rPr>
              <a:t>1.56 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907024"/>
            <a:ext cx="11064240" cy="448056"/>
          </a:xfrm>
          <a:prstGeom prst="rect">
            <a:avLst/>
          </a:prstGeom>
          <a:solidFill>
            <a:srgbClr val="34182E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" y="5943600"/>
            <a:ext cx="7680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S1–S3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36192" y="5943600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Adversarial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16352" y="5943600"/>
            <a:ext cx="396849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Segoe UI"/>
              </a:rPr>
              <a:t>3 Prompt-Injection Probes (Rostova SSN / PIN)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31152" y="5943600"/>
            <a:ext cx="95097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B7185"/>
                </a:solidFill>
                <a:latin typeface="Segoe UI"/>
              </a:rPr>
              <a:t>Blocked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5943600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B7185"/>
                </a:solidFill>
                <a:latin typeface="Segoe UI"/>
              </a:rPr>
              <a:t>Blocked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5943600"/>
            <a:ext cx="104241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B7185"/>
                </a:solidFill>
                <a:latin typeface="Segoe UI"/>
              </a:rPr>
              <a:t>100% Safe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05872" y="5943600"/>
            <a:ext cx="1133856" cy="3749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B7185"/>
                </a:solidFill>
                <a:latin typeface="Segoe UI"/>
              </a:rPr>
              <a:t>0.21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342132" cy="310896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STAGE 2 •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Stage 2: Multi-Agent Escalation &amp; FastAPI Admin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Decoupled second LangChain Agent (AdminEscalationAgent) with asynchronous SQLite state &amp; REST API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5394960" cy="2304288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4114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02352" cy="20482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🤝 Agent 1 → Agent 2 Security Boundary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Least Privilege: Agent 1 (Customer Chatbot) cannot approve bookings.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Structured Handoff: Passes validated ReservationDraft Pydantic model.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Prevents customer chat history from prompt-injecting Agent 2.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Agent 2 checks SQLite capacity &amp; writes an Executive Briefing.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96512"/>
            <a:ext cx="5394960" cy="2304288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4224528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4315968"/>
            <a:ext cx="5102352" cy="20482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⏳ Asynchronous Non-Blocking HITL Lifecycle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Humans take seconds or minutes to respond—blocking HTTP threads crashes servers.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Agent 2 writes a PENDING row (REQ-XXXXXXXX) to SQLite and releases the thread.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Built-in tenacity exponential backoff protects LLM briefing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27632"/>
            <a:ext cx="5394960" cy="4773168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1755648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847088"/>
            <a:ext cx="5102352" cy="45171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🌐 FastAPI Admin REST Service (src/stage2_hitl/admin_api.py)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Protected by X-Admin-Api-Key Header (HTTP 401 on invalid token):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  POST /admin/reservations/escalate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   ↳ Invokes Agent 2, generates briefing, creates PENDING ticket.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  GET  /admin/reservations/pending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   ↳ Lists all tickets awaiting review + live garage occupancy.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  POST /admin/reservations/{request_id}/decision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   ↳ Records human CONFIRM or REFUSE decision + reviewer notes.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Dual UI Support: Approve via FastAPI Swagger (/docs) OR Streamlit Tab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STAGE 3 •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Stage 3: Secure Model Context Protocol (MCP)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Standardized FastMCP + FastAPI tool server writing approved reservations to data/confirmed_reservations.txt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10771632" cy="11155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📄 Exact Required Ledger Output Format (data/confirmed_reservations.txt)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Format Specification:  Name | Car Number | Reservation Period | Approval Time</a:t>
            </a:r>
          </a:p>
          <a:p>
            <a:pPr>
              <a:spcAft>
                <a:spcPts val="350"/>
              </a:spcAft>
            </a:pPr>
            <a:r>
              <a:rPr sz="1100" b="1">
                <a:solidFill>
                  <a:srgbClr val="38BDF8"/>
                </a:solidFill>
                <a:latin typeface="Consolas"/>
              </a:rPr>
              <a:t>Live Recorded Example: Merve Okcu | 34ABC123 | 2026-10-20 09:00 to 2026-10-20 18:00 | 2026-10-18 23:42:10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394960" cy="1508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3328416"/>
            <a:ext cx="4114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419856"/>
            <a:ext cx="5102352" cy="1252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1. Approval Status Gate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Rejects any call where admin_status != 'CONFIRMED'.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Even if called with a PENDING or REFUSED ticket, file write is denied.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394960" cy="1508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3328416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419856"/>
            <a:ext cx="5102352" cy="1252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2. X-MCP-Api-Key Authentication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FastAPI transport enforces X-MCP-Api-Key header verification.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Unauthorized clients receive HTTP 401 before reaching the file writer.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64608"/>
            <a:ext cx="5394960" cy="1508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4992624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084064"/>
            <a:ext cx="5102352" cy="1252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3. Delimiter Injection Defense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Pydantic @field_validator rejects pipe ('|') and newline ('\n') characters.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Prevents malicious users from forging extra columns or fake ledger 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64608"/>
            <a:ext cx="5394960" cy="15087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4992624"/>
            <a:ext cx="4114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5084064"/>
            <a:ext cx="5102352" cy="1252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4. Thread-Safe Atomic File Writes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Uses a module-level Python threading.Lock() + explicit file.flush().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Proven under 30 concurrent stress requests with zero corrupted 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867912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STAGE 4 • LANGGRAPH &amp; LOAD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Stage 4: Stateful LangGraph Pipeline &amp; Concurrency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3-Node StateGraph with MemorySaver checkpointing tested under 120 concurrent operations across 4 stages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4846320" cy="4773168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4553712" cy="45171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🔄 LangGraph State Machine &amp; Checkpointing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TypedDict State (ReservationWorkflowState):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 Tracks messages, reservation_draft, admin_ticket, mcp_write_result &amp; workflow_stage.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Conditional Routing Edges: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 1. COLLECTING_INFO → pauses &amp; replies to user.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 2. READY_FOR_ADMIN → routes to admin_approval.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 3. AWAITING_ADMIN_APPROVAL → checkpoints thread in MemorySaver until Admin decision.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 4. CONFIRMED → routes to data_recording (Stage 3 MCP) &amp; decrements SQLite spaces.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 5. REFUSED → skips MCP &amp; notifies customer.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627632"/>
            <a:ext cx="6035040" cy="530352"/>
          </a:xfrm>
          <a:prstGeom prst="rect">
            <a:avLst/>
          </a:prstGeom>
          <a:solidFill>
            <a:srgbClr val="1E2945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1664208"/>
            <a:ext cx="218541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Segoe UI"/>
              </a:rPr>
              <a:t>Stage / Component (30 Reqs × 6 Workers)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1" y="1664208"/>
            <a:ext cx="90525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Segoe UI"/>
              </a:rPr>
              <a:t>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1664208"/>
            <a:ext cx="749808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Segoe UI"/>
              </a:rPr>
              <a:t>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0384" y="1664208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Segoe UI"/>
              </a:rPr>
              <a:t>p50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7" y="1664208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Segoe UI"/>
              </a:rPr>
              <a:t>p95 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157984"/>
            <a:ext cx="6035040" cy="530352"/>
          </a:xfrm>
          <a:prstGeom prst="rect">
            <a:avLst/>
          </a:prstGeom>
          <a:solidFill>
            <a:srgbClr val="1B263E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2194560"/>
            <a:ext cx="218541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Stage 1: Chatbot RAG &amp;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1" y="2194560"/>
            <a:ext cx="90525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30 / 30 (100%)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194560"/>
            <a:ext cx="749808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400.3 req/s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0384" y="2194560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9.36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8207" y="2194560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24.84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688336"/>
            <a:ext cx="6035040" cy="530352"/>
          </a:xfrm>
          <a:prstGeom prst="rect">
            <a:avLst/>
          </a:prstGeom>
          <a:solidFill>
            <a:srgbClr val="141D30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724912"/>
            <a:ext cx="218541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Stage 2: Admin HITL Escalation &amp; 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1" y="2724912"/>
            <a:ext cx="90525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30 / 30 (100%)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2724912"/>
            <a:ext cx="749808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38.6 req/s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724912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50.77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8207" y="2724912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365.40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218687"/>
            <a:ext cx="6035040" cy="530352"/>
          </a:xfrm>
          <a:prstGeom prst="rect">
            <a:avLst/>
          </a:prstGeom>
          <a:solidFill>
            <a:srgbClr val="1B263E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3255263"/>
            <a:ext cx="218541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Stage 3: MCP Concurrent File Recording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1" y="3255263"/>
            <a:ext cx="90525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30 / 30 (100%)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3255263"/>
            <a:ext cx="749808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32.5 req/s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3255263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73.12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7" y="3255263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346.63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749039"/>
            <a:ext cx="6035040" cy="530352"/>
          </a:xfrm>
          <a:prstGeom prst="rect">
            <a:avLst/>
          </a:prstGeom>
          <a:solidFill>
            <a:srgbClr val="141D30"/>
          </a:solidFill>
          <a:ln w="9525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0992" y="3785615"/>
            <a:ext cx="218541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Segoe UI"/>
              </a:rPr>
              <a:t>Stage 4: Full LangGraph E2E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1" y="3785615"/>
            <a:ext cx="905255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Segoe UI"/>
              </a:rPr>
              <a:t>30 / 30 (100%)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3785615"/>
            <a:ext cx="749808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21.2 req/s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3785615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228.10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8207" y="3785615"/>
            <a:ext cx="731519" cy="457199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00" b="0">
                <a:solidFill>
                  <a:srgbClr val="D7E1EE"/>
                </a:solidFill>
                <a:latin typeface="Segoe UI"/>
              </a:rPr>
              <a:t>416.82 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480560"/>
            <a:ext cx="6035040" cy="1920240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42431" y="4608576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24144" y="4700016"/>
            <a:ext cx="5742431" cy="16642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✅ Concurrency &amp; Thread-Safety Findings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120 / 120 Total Concurrent Operations Succeeded (0% Error Rate).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SQLite WAL Mode + 30s Busy Timeout prevented database lock contention.</a:t>
            </a:r>
          </a:p>
          <a:p>
            <a:pPr>
              <a:spcAft>
                <a:spcPts val="350"/>
              </a:spcAft>
            </a:pPr>
            <a:r>
              <a:rPr sz="1100" b="0">
                <a:solidFill>
                  <a:srgbClr val="D7E1EE"/>
                </a:solidFill>
                <a:latin typeface="Segoe UI"/>
              </a:rPr>
              <a:t>• All 60 concurrent MCP writes produced intact 4-column pipe-delimited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000" b="1">
                <a:solidFill>
                  <a:srgbClr val="0B1120"/>
                </a:solidFill>
                <a:latin typeface="Segoe UI"/>
              </a:rPr>
              <a:t>DEMO &amp; ENGINEERING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56032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Segoe UI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Mini Demo Flow &amp; Production DevOps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b="0">
                <a:solidFill>
                  <a:srgbClr val="94A3B8"/>
                </a:solidFill>
                <a:latin typeface="Segoe UI"/>
              </a:rPr>
              <a:t>Quick screen recording (docs/demo_recording.mp4) plus CI/CD, Docker, Terraform &amp; 16 Automated Pytest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474720" cy="24231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182112" cy="2167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💬 Step 1: Customer Chat (Stage 1)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Customer asks about location, height limit, EV chargers &amp; live spaces (58 open).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Guardrails block adversarial probe for Elena Rostova's SSN.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Collects Name, Surname, Plate (34ABC123) &amp; Period → Escalates to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474720" cy="24231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755648"/>
            <a:ext cx="4114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847088"/>
            <a:ext cx="3182112" cy="2167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👩‍💼 Step 2: Admin Portal (Stage 2)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Admin opens Tab 2 (or FastAPI /docs) &amp; reviews Agent 2's Briefing.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Checks live garage occupancy (58/105 spaces) and clicks ✅ CONFIRM.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LangGraph resumes checkpointed thread and triggers Node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27632"/>
            <a:ext cx="3474720" cy="2423160"/>
          </a:xfrm>
          <a:prstGeom prst="roundRect">
            <a:avLst>
              <a:gd name="adj" fmla="val 4000"/>
            </a:avLst>
          </a:prstGeom>
          <a:solidFill>
            <a:srgbClr val="17213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2752" y="1755648"/>
            <a:ext cx="4114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47088"/>
            <a:ext cx="3182112" cy="2167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🔒 Step 3: MCP Ledger &amp; SQLite (Stages 3–4)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MCP Server validates X-MCP-Api-Key and appends row to confirmed_reservations.txt.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SQLite automatically decrements available spaces (58 → 57).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Customer receives instant confirmation in chat!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4379976"/>
            <a:ext cx="4114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471416"/>
            <a:ext cx="5102352" cy="1892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🧪 16 Automated Pytest Unit &amp; Integration Tests (100% Passing)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&gt;= 2 tests per module across all 8 test suites (tests/test_*.py):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test_sql_store • test_vector_store • test_guardrails • test_chatbot_agent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  test_evaluation • test_admin_hitl • test_mcp_server • test_langgraph_workflow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Runs offline in CI/CD &amp; switches to live Gemini/OpenAI + Pinecone via .env.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5196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E2945"/>
          </a:solidFill>
          <a:ln w="12700">
            <a:solidFill>
              <a:srgbClr val="38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4379976"/>
            <a:ext cx="411480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471416"/>
            <a:ext cx="5102352" cy="1892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8FAFC"/>
                </a:solidFill>
                <a:latin typeface="Segoe UI"/>
              </a:rPr>
              <a:t>🚀 DevOps, Cloud &amp; Infrastructure Bonus Deliverables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GitHub Actions CI/CD (ci.yml): Runs pytest + load tests on every push.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Docker (Dockerfile &amp; docker-compose.yml): UI + Admin API + MCP Server.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Terraform (terraform/main.tf): Provisions Pinecone Serverless index.</a:t>
            </a:r>
          </a:p>
          <a:p>
            <a:pPr>
              <a:spcAft>
                <a:spcPts val="250"/>
              </a:spcAft>
            </a:pPr>
            <a:r>
              <a:rPr sz="1050" b="0">
                <a:solidFill>
                  <a:srgbClr val="D7E1EE"/>
                </a:solidFill>
                <a:latin typeface="Segoe UI"/>
              </a:rPr>
              <a:t>• Mini Demo Recording: Included at docs/demo_recording.mp4.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