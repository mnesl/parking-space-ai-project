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777240"/>
            <a:ext cx="4114800" cy="36576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Segoe UI"/>
              </a:rPr>
              <a:t>AI ENGINEERING CAPSTONE  •  STAGES 1 - 4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800" b="1">
                <a:solidFill>
                  <a:srgbClr val="F8FAFC"/>
                </a:solidFill>
                <a:latin typeface="Segoe UI"/>
              </a:rPr>
              <a:t>AeroPark Smart Garage</a:t>
            </a:r>
          </a:p>
          <a:p>
            <a:pPr>
              <a:spcAft>
                <a:spcPts val="1200"/>
              </a:spcAft>
            </a:pPr>
            <a:r>
              <a:rPr sz="3000" b="1">
                <a:solidFill>
                  <a:srgbClr val="38BDF8"/>
                </a:solidFill>
                <a:latin typeface="Segoe UI"/>
              </a:rPr>
              <a:t>Intelligent Parking Reservation Chatbot</a:t>
            </a:r>
          </a:p>
          <a:p>
            <a:r>
              <a:rPr sz="1400" b="0">
                <a:solidFill>
                  <a:srgbClr val="94A3B8"/>
                </a:solidFill>
                <a:latin typeface="Segoe UI"/>
              </a:rPr>
              <a:t>Multi-Agent Architecture powered by Hybrid RAG (Pinecone + SQLite), 3-Wall PII Guardrails, Human-in-the-Loop (FastAPI), Model Context Protocol (MCP), and LangGraph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355701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STAGE 1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Hybrid RAG &amp; Guardrails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Pinecone Serverless + SQLite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3-Wall PII &amp; Injection Filter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90% Recall@3 • 100% Block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21024" y="3557016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C084FC"/>
                </a:solidFill>
                <a:latin typeface="Segoe UI"/>
              </a:rPr>
              <a:t>STAGE 2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Human-in-the-Loop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AdminEscalationAgent (Agent 2)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FastAPI REST Approval Portal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Async SQLite Ticket Queue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355701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34D399"/>
                </a:solidFill>
                <a:latin typeface="Segoe UI"/>
              </a:rPr>
              <a:t>STAGE 3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Secure MCP Server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FastMCP + HTTP Transport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Delimiter Injection Defense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Thread-Locked Ledger Writes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70848" y="355701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FBBF24"/>
                </a:solidFill>
                <a:latin typeface="Segoe UI"/>
              </a:rPr>
              <a:t>STAGE 4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LangGraph Orchestrator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3-Node Stateful Workflow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MemorySaver Checkpointing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120 Concurrent Load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7E1EE"/>
                </a:solidFill>
                <a:latin typeface="Segoe UI"/>
              </a:rPr>
              <a:t>Engineered by Merve Neslihan Okcu   |   Python 3.12+ • LangChain • LangGraph • Pinecone • SQLite • FastAPI • MCP •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End-to-End Multi-Agent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Strict privilege separation across Customer RAG (Stage 1), Admin HITL (Stage 2), MCP Ledger (Stage 3), and LangGraph (Stage 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7393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NODE 1: user_interaction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1 Customer RAG Agent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Answers policy/location FAQs via Pinecone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Queries live spaces &amp; rates via SQLite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Collects 4 booking slots (ReservationDraft)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3-Wall PII &amp; Injection Guardrails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1773936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C084FC"/>
                </a:solidFill>
                <a:latin typeface="Segoe UI"/>
              </a:rPr>
              <a:t>NODE 2: admin_approval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2 Admin HITL Agent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Receives validated Pydantic ReservationDraft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Enriches with live zone capacity snapshot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Creates PENDING ticket (REQ-XXXXXXXX)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Waits for Human CONFIRM / REFUSE via 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02752" y="177393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NODE 3: data_recording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3 MCP Client &amp; Server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Triggered ONLY when status == CONFIRMED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Authenticates via X-MCP-Api-Key header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Validates against '|' &amp; newline injection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Appends to data/confirmed_reservations.txt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69080" y="2834640"/>
            <a:ext cx="228600" cy="292608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63840" y="2834640"/>
            <a:ext cx="228600" cy="292608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65429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🌲 Pinecone Serverless Vector DB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Stores static facility docs (location, EV rules)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Enforces metadata filter: is_public == True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07992" y="465429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🗄️ SQLite Transactional Database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Live spaces (58/105), dynamic pricing &amp; hours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Persists async Stage 2 Admin approval queue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02752" y="465429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📄 Atomic MCP Flat-File Ledger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Format: Name | Car # | Period | Approval Time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Python threading.Lock() + flush()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026664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1 • RAG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Hybrid RAG Architecture &amp; 3-Wall Sensitive Data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Combining semantic vector search with real-time relational SQL queries and multi-layered PII / prompt-injection defense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02352" cy="202996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⚡ Bonus Architecture: Why Hybrid RAG?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Static Docs (Pinecone): Directions, height limit (2.15m), EV rules, policies.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Chunking: RecursiveCharacterTextSplitter (size=550, overlap=80).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Dynamic State (SQLite): Live spaces (58/105), hourly/daily/EV rates &amp; hours.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Zero stale vector embeddings when space availability changes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69080"/>
            <a:ext cx="5394960" cy="233172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4197096"/>
            <a:ext cx="411480" cy="54864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288536"/>
            <a:ext cx="5102352" cy="20756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📝 Interactive Multi-Turn Reservation Slot Collector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Strict Pydantic ReservationDraft validation across conversation turns: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1. Name &amp; Surname (Customer identity validation)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2. Car Number / Plate (Regex normalized: e.g., 34ABC123)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3. Reservation Period (YYYY-MM-DD HH:MM to YYYY-MM-DD HH:MM)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Answers policy FAQs mid-booking without losing previously collected slots.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755648"/>
            <a:ext cx="411480" cy="54864"/>
          </a:xfrm>
          <a:prstGeom prst="round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84708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1: Input Prompt-Injection &amp; Probe Blocker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Intercepts user messages BEFORE any LLM or database call.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Blocks jailbreaks &amp; probes for SSNs, credit cards, master PINs, or VIP plates.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7355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82512" y="340156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49300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2: Vector Metadata Filter &amp; Context Scrubber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Enforces Pinecone filter={'is_public': True} to exclude internal audit docs.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Applies Regex + NLP Entity Scrubber over retrieved chunks before prompting.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91947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504748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513892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3: Output PII Redaction Gate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Scans final assistant response before returning to the user.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Redacts any SSN, credit card, password, or VIP plate into [REDACTED_*].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13182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1 • LIVE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Live Cloud RAG Evaluation: Recall@3, Precision@3 &amp;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Evaluated on live Pinecone Serverless (parking-knowledge-base) + Google Gemini (gemini-embedding-001 &amp; gemini-3.1-flash-lite)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38BDF8"/>
                </a:solidFill>
                <a:latin typeface="Segoe UI"/>
              </a:rPr>
              <a:t>100.0%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Mean Recall@3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All ground-truth docs in Top-3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34D399"/>
                </a:solidFill>
                <a:latin typeface="Segoe UI"/>
              </a:rPr>
              <a:t>93.3%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Mean Precision@3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High signal-to-noise retrieval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3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084FC"/>
                </a:solidFill>
                <a:latin typeface="Segoe UI"/>
              </a:rPr>
              <a:t>93.3%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Factual Accuracy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Grounded in Pinecone + SQLite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B7185"/>
                </a:solidFill>
                <a:latin typeface="Segoe UI"/>
              </a:rPr>
              <a:t>100.0%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Guardrail Block Rate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Zero PII / SSN / PIN leaks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18688"/>
            <a:ext cx="11064240" cy="448056"/>
          </a:xfrm>
          <a:prstGeom prst="rect">
            <a:avLst/>
          </a:prstGeom>
          <a:solidFill>
            <a:srgbClr val="1E2945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55264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Query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25526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Category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3255264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Segoe UI"/>
              </a:rPr>
              <a:t>Benchmark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3255264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Recall@3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25526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Precision@3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325526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325526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Latency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66744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703320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70332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3703320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Where is AeroPark located &amp; physical address?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3703320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70332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0.67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370332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370332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5185 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114800"/>
            <a:ext cx="11064240" cy="448056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151376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6192" y="4151376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151376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Max vehicle height in Zone A/C &amp; EV chargers?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4151376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4151376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151376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4151376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1568 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562856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4599432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6192" y="4599432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2" y="4599432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What info is needed to reserve a space?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4599432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1" y="4599432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7152" y="4599432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4599432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1591 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010912"/>
            <a:ext cx="11064240" cy="448056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5047488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047488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5047488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Cancellation policy &amp; grace period?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5047488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28431" y="5047488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152" y="5047488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5047488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4967 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458968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5495544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36192" y="549554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Hybrid RAG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16352" y="5495544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Available spaces right now, rates &amp; hours?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31152" y="5495544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28431" y="549554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549554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0.67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549554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2362 ms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907024"/>
            <a:ext cx="11064240" cy="448056"/>
          </a:xfrm>
          <a:prstGeom prst="rect">
            <a:avLst/>
          </a:prstGeom>
          <a:solidFill>
            <a:srgbClr val="34182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5943600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S1-S3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6192" y="594360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Adversarial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16352" y="5943600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1">
                <a:solidFill>
                  <a:srgbClr val="F8FAFC"/>
                </a:solidFill>
                <a:latin typeface="Segoe UI"/>
              </a:rPr>
              <a:t>3 Prompt-Injection Probes (Rostova SSN / PIN)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5943600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Blocked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594360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Blocked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7152" y="594360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100% Safe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05872" y="594360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&lt; 1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342132" cy="310896"/>
          </a:xfrm>
          <a:prstGeom prst="roundRect">
            <a:avLst>
              <a:gd name="adj" fmla="val 50000"/>
            </a:avLst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2 •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2: Multi-Agent Escalation &amp; FastAPI Admin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Decoupled second LangChain Agent (AdminEscalationAgent) with asynchronous SQLite state &amp; REST API authentication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5394960" cy="230428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02352" cy="20482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🤝 Agent 1 → Agent 2 Security Boundary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Least Privilege: Agent 1 (Customer Chatbot) cannot approve bookings.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Structured Handoff: Passes validated ReservationDraft Pydantic model.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Prevents customer chat history from prompt-injecting Agent 2.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Agent 2 checks SQLite capacity &amp; writes an Executive Briefing.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394960" cy="230428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422452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315968"/>
            <a:ext cx="5102352" cy="20482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⏳ Asynchronous Non-Blocking HITL Lifecycle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Humans take seconds or minutes to respond-blocking HTTP threads crashes servers.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Agent 2 writes a PENDING row (REQ-XXXXXXXX) to SQLite and releases the thread.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Built-in tenacity exponential backoff protects LLM briefing generation.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5394960" cy="477316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847088"/>
            <a:ext cx="5102352" cy="4517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🌐 FastAPI Admin REST Service (src/stage2_hitl/admin_api.py)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X-Admin-Api-Key Header (HTTP 401 on invalid token):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POST /admin/reservations/escalate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Invokes Agent 2, generates briefing, creates PENDING ticket.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GET  /admin/reservations/pending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Lists all tickets awaiting review + live garage occupancy.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POST /admin/reservations/{request_id}/decision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Records human CONFIRM or REFUSE decision + reviewer notes.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Dual UI Support: Approve via FastAPI Swagger (/docs) OR Streamlit Tab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3 •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3: Secure Model Context Protocol (MCP)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Standardized FastMCP + FastAPI tool server writing approved reservations to data/confirmed_reservations.txt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10771632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📄 Exact Required Ledger Output Format (data/confirmed_reservations.txt)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Format Specification:  Name | Car Number | Reservation Period | Approval Time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Live Recorded Example: Merve Okcu | 34ABC123 | 2026-10-20 09:00 to 2026-10-20 18:00 | 2026-10-18 23:42:10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328416"/>
            <a:ext cx="411480" cy="54864"/>
          </a:xfrm>
          <a:prstGeom prst="round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419856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1. Approval Status Gate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Rejects any call where admin_status != 'CONFIRMED'.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Even if called with a PENDING or REFUSED ticket, file write is denied.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332841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419856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2. X-MCP-Api-Key Authentication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FastAPI transport enforces X-MCP-Api-Key header verification.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Unauthorized clients receive HTTP 401 before reaching the file writer.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992624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5084064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3. Delimiter Injection Defense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Pydantic @field_validator rejects pipe ('|') and newline ('\n') characters.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Prevents malicious users from forging extra columns or fake ledger lines.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864608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4992624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5084064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4. Thread-Safe Atomic File Writes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Uses a module-level Python threading.Lock() + explicit file.flush().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Proven under 30 concurrent stress requests with zero corrupted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867912" cy="310896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4 • LANGGRAPH &amp; LOAD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4: Stateful LangGraph Pipeline &amp; Concurrency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3-Node StateGraph with MemorySaver checkpointing tested under 120 concurrent operations across 4 stages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4846320" cy="477316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4553712" cy="4517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🔄 LangGraph State Machine &amp; Checkpointing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TypedDict State (ReservationWorkflowState):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Tracks messages, reservation_draft, admin_ticket, mcp_write_result &amp; workflow_stage.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Conditional Routing Edges: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1. COLLECTING_INFO → pauses &amp; replies to user.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2. READY_FOR_ADMIN → routes to admin_approval.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3. AWAITING_ADMIN_APPROVAL → checkpoints thread in MemorySaver until Admin decision.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4. CONFIRMED → routes to data_recording (Stage 3 MCP) &amp; decrements SQLite spaces.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5. REFUSED → skips MCP &amp; notifies customer.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627632"/>
            <a:ext cx="6035040" cy="530352"/>
          </a:xfrm>
          <a:prstGeom prst="rect">
            <a:avLst/>
          </a:prstGeom>
          <a:solidFill>
            <a:srgbClr val="1E2945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0992" y="1664208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Segoe UI"/>
              </a:rPr>
              <a:t>Stage / Component (30 Reqs × 6 Workers)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1664208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Success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4272" y="1664208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Throughput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0384" y="1664208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p50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8207" y="1664208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p95 Latency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2157984"/>
            <a:ext cx="6035040" cy="530352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50992" y="2194560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1: Chatbot RAG &amp; Guardrails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1" y="2194560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2194560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463.8 req/s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0384" y="2194560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8.83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8207" y="2194560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23.68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688336"/>
            <a:ext cx="6035040" cy="530352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0992" y="2724912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2: Admin HITL Escalation &amp; Confirm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1" y="2724912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4272" y="2724912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52.3 req/s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0384" y="2724912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69.99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8207" y="2724912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389.83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3218687"/>
            <a:ext cx="6035040" cy="530352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3255263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3: MCP Concurrent File Recording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1" y="3255263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255263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37.9 req/s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3255263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84.76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8207" y="3255263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531.36 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3749039"/>
            <a:ext cx="6035040" cy="530352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50992" y="3785615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4: Full LangGraph E2E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2711" y="3785615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785615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25.9 req/s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785615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180.59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8207" y="3785615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544.75 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480560"/>
            <a:ext cx="6035040" cy="19202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42431" y="460857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4144" y="4700016"/>
            <a:ext cx="5742431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✅ Concurrency &amp; Thread-Safety Findings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120 / 120 Total Concurrent Operations Succeeded (0% Error Rate).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SQLite WAL Mode + 30s Busy Timeout prevented database lock contention.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All 60 concurrent MCP writes produced intact 4-column pipe-delimited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026664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DEMO &amp; ENGINEERING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Mini Demo Flow &amp; Production DevOps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Quick screen recording (docs/demo_recording.mp4) plus CI/CD, Docker, Terraform &amp; 16 Automated Pytest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💬 Step 1: Customer Chat (Stage 1)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Customer asks about location, height limit, EV chargers &amp; live spaces (58 open).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Guardrails block adversarial probe for Elena Rostova's SSN.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Collects Name, Surname, Plate (34ABC123) &amp; Period → Escalates to Admin.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1755648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👩‍💼 Step 2: Admin Portal (Stage 2)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Admin opens Tab 2 (or FastAPI /docs) &amp; reviews Agent 2's Briefing.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Checks live garage occupancy (58/105 spaces) and clicks ✅ CONFIRM.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LangGraph resumes checkpointed thread and triggers Node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02752" y="175564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🔒 Step 3: MCP Ledger &amp; SQLite (Stages 3-4)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MCP Server validates X-MCP-Api-Key and appends row to confirmed_reservations.txt.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SQLite automatically decrements available spaces (58 → 57).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Customer receives instant confirmation in chat!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37997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4471416"/>
            <a:ext cx="5102352" cy="18928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🧪 16 Automated Pytest Unit &amp; Integration Tests (100% Passing)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&gt;= 2 tests per module across all 8 test suites (tests/test_*.py):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test_sql_store • test_vector_store • test_guardrails • test_chatbot_agent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test_evaluation • test_admin_hitl • test_mcp_server • test_langgraph_workflow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Runs offline in CI/CD &amp; switches to live Gemini/OpenAI + Pinecone via .env.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437997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4471416"/>
            <a:ext cx="5102352" cy="18928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🚀 DevOps, Cloud &amp; Infrastructure Bonus Deliverables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GitHub Actions CI/CD (ci.yml): Runs pytest + load tests on every push.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Docker (Dockerfile &amp; docker-compose.yml): UI + Admin API + MCP Server.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Terraform (terraform/main.tf): Provisions Pinecone Serverless index.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Mini Demo Recording: Included at docs/demo_recording.mp4.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