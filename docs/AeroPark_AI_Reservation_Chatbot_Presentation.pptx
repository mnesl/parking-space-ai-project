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AeroPark Smart Garage — Intelligent Parking Reservation Chatbot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Hybrid RAG (Pinecone + SQLite) | Guardrails | Human-in-the-Loop | MCP Server | LangGraph</a:t>
            </a:r>
          </a:p>
          <a:p>
            <a:r>
              <a:t>Author: Merve Neslihan Okcu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High-Level System Architecture (4 Stages)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LLM &amp; Embeddings Factory: Provider-agnostic design supporting Google Gemini &amp; OpenAI.</a:t>
            </a:r>
          </a:p>
          <a:p>
            <a:pPr>
              <a:spcAft>
                <a:spcPts val="1000"/>
              </a:spcAft>
              <a:defRPr sz="1800"/>
            </a:pPr>
            <a:r>
              <a:t>Stage 1 (Hybrid RAG &amp; Guardrails): Pinecone Serverless (Static Docs) + SQLite (Live Spaces/Prices).</a:t>
            </a:r>
          </a:p>
          <a:p>
            <a:pPr>
              <a:spcAft>
                <a:spcPts val="1000"/>
              </a:spcAft>
              <a:defRPr sz="1800"/>
            </a:pPr>
            <a:r>
              <a:t>Stage 1 Security: 3-Wall Defense-in-Depth (Input Filter + Metadata Filter is_public=True + PII Redaction).</a:t>
            </a:r>
          </a:p>
          <a:p>
            <a:pPr>
              <a:spcAft>
                <a:spcPts val="1000"/>
              </a:spcAft>
              <a:defRPr sz="1800"/>
            </a:pPr>
            <a:r>
              <a:t>Stage 2 (Human-in-the-Loop): Agent 2 (AdminEscalationAgent) + FastAPI REST Service with X-Admin-Api-Key.</a:t>
            </a:r>
          </a:p>
          <a:p>
            <a:pPr>
              <a:spcAft>
                <a:spcPts val="1000"/>
              </a:spcAft>
              <a:defRPr sz="1800"/>
            </a:pPr>
            <a:r>
              <a:t>Stage 3 (Model Context Protocol): FastMCP + FastAPI Server writing 'Name | Car Number | Period | Approval Time'.</a:t>
            </a:r>
          </a:p>
          <a:p>
            <a:pPr>
              <a:spcAft>
                <a:spcPts val="1000"/>
              </a:spcAft>
              <a:defRPr sz="1800"/>
            </a:pPr>
            <a:r>
              <a:t>Stage 4 (LangGraph Orchestration): 3-Node StateGraph with MemorySaver Checkpointer &amp; Concurrency Load Testing.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Stage 1: Hybrid RAG, Slot Filling &amp; Sensitive Data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Why Hybrid RAG? Static rules/directions live in Pinecone; changing space counts (58 spaces) live in SQLite.</a:t>
            </a:r>
          </a:p>
          <a:p>
            <a:pPr>
              <a:spcAft>
                <a:spcPts val="1000"/>
              </a:spcAft>
              <a:defRPr sz="1800"/>
            </a:pPr>
            <a:r>
              <a:t>Chunking Strategy: RecursiveCharacterTextSplitter (chunk_size=550, chunk_overlap=80) preserving Markdown headers.</a:t>
            </a:r>
          </a:p>
          <a:p>
            <a:pPr>
              <a:spcAft>
                <a:spcPts val="1000"/>
              </a:spcAft>
              <a:defRPr sz="1800"/>
            </a:pPr>
            <a:r>
              <a:t>Interactive Slot Filling: Pydantic ReservationDraft validates name, surname, car_number, reservation_period.</a:t>
            </a:r>
          </a:p>
          <a:p>
            <a:pPr>
              <a:spcAft>
                <a:spcPts val="1000"/>
              </a:spcAft>
              <a:defRPr sz="1800"/>
            </a:pPr>
            <a:r>
              <a:t>3 Security Walls Against Prompt Injection &amp; PII Exposure:</a:t>
            </a:r>
          </a:p>
          <a:p>
            <a:pPr>
              <a:spcAft>
                <a:spcPts val="1000"/>
              </a:spcAft>
              <a:defRPr sz="1800"/>
            </a:pPr>
            <a:r>
              <a:t>   1. Wall #1 (Input Guardrail): Blocks jailbreaks and confidential credential/PII probes.</a:t>
            </a:r>
          </a:p>
          <a:p>
            <a:pPr>
              <a:spcAft>
                <a:spcPts val="1000"/>
              </a:spcAft>
              <a:defRPr sz="1800"/>
            </a:pPr>
            <a:r>
              <a:t>   2. Wall #2 (Retrieval Filter &amp; Scrubber): Enforces filter={'is_public': True} + Regex/NLP entity redaction.</a:t>
            </a:r>
          </a:p>
          <a:p>
            <a:pPr>
              <a:spcAft>
                <a:spcPts val="1000"/>
              </a:spcAft>
              <a:defRPr sz="1800"/>
            </a:pPr>
            <a:r>
              <a:t>   3. Wall #3 (Output Guardrail): Scrubs SSNs, credit cards, tokens, and VIP PII before display.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Stage 1: Scientific RAG Evaluation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Evaluated across Golden Benchmark Queries + Adversarial Prompt Injection Suite:</a:t>
            </a:r>
          </a:p>
          <a:p>
            <a:pPr>
              <a:spcAft>
                <a:spcPts val="1000"/>
              </a:spcAft>
              <a:defRPr sz="1800"/>
            </a:pPr>
            <a:r>
              <a:t>Mean Recall@3: 90.00% (Retrieved expected ground-truth documents inside Top-3 chunks).</a:t>
            </a:r>
          </a:p>
          <a:p>
            <a:pPr>
              <a:spcAft>
                <a:spcPts val="1000"/>
              </a:spcAft>
              <a:defRPr sz="1800"/>
            </a:pPr>
            <a:r>
              <a:t>Mean Precision@3: 93.33% (High signal-to-noise ratio in retrieved context).</a:t>
            </a:r>
          </a:p>
          <a:p>
            <a:pPr>
              <a:spcAft>
                <a:spcPts val="1000"/>
              </a:spcAft>
              <a:defRPr sz="1800"/>
            </a:pPr>
            <a:r>
              <a:t>Mean Response Factual Accuracy: 100.00% (Verified ground-truth facts in answers).</a:t>
            </a:r>
          </a:p>
          <a:p>
            <a:pPr>
              <a:spcAft>
                <a:spcPts val="1000"/>
              </a:spcAft>
              <a:defRPr sz="1800"/>
            </a:pPr>
            <a:r>
              <a:t>Sensitive Data Guardrail Block Rate: 100.00% (0% leakage of SSNs, Credit Cards, or Override PINs).</a:t>
            </a:r>
          </a:p>
          <a:p>
            <a:pPr>
              <a:spcAft>
                <a:spcPts val="1000"/>
              </a:spcAft>
              <a:defRPr sz="1800"/>
            </a:pPr>
            <a:r>
              <a:t>Median Latency (p50): 1.51 ms | 95th Percentile Latency (p95): 4.05 ms (local benchmark).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Stage 2: Human-in-the-Loop (HITL) Administrator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Multi-Agent Privilege Separation: Agent 1 (Customer Chatbot) cannot approve its own bookings.</a:t>
            </a:r>
          </a:p>
          <a:p>
            <a:pPr>
              <a:spcAft>
                <a:spcPts val="1000"/>
              </a:spcAft>
              <a:defRPr sz="1800"/>
            </a:pPr>
            <a:r>
              <a:t>Agent 1 -&gt; Agent 2 Handoff: Passes strictly validated ReservationDraft Pydantic model (no raw chat injection).</a:t>
            </a:r>
          </a:p>
          <a:p>
            <a:pPr>
              <a:spcAft>
                <a:spcPts val="1000"/>
              </a:spcAft>
              <a:defRPr sz="1800"/>
            </a:pPr>
            <a:r>
              <a:t>Agent 2 (AdminEscalationAgent): Checks live SQLite zone capacity and generates an Executive Briefing.</a:t>
            </a:r>
          </a:p>
          <a:p>
            <a:pPr>
              <a:spcAft>
                <a:spcPts val="1000"/>
              </a:spcAft>
              <a:defRPr sz="1800"/>
            </a:pPr>
            <a:r>
              <a:t>Asynchronous Persistence: Saves PENDING tickets in SQLite (REQ-XXXXXXXX) so server never blocks.</a:t>
            </a:r>
          </a:p>
          <a:p>
            <a:pPr>
              <a:spcAft>
                <a:spcPts val="1000"/>
              </a:spcAft>
              <a:defRPr sz="1800"/>
            </a:pPr>
            <a:r>
              <a:t>FastAPI REST Endpoints (/admin/reservations/pending &amp; /decision) secured by X-Admin-Api-Key (HTTP 401 on missing key).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Stage 3: Model Context Protocol (MCP) Server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Implemented via Official Python FastMCP SDK + FastAPI HTTP Transport + LangChain @tool fallback.</a:t>
            </a:r>
          </a:p>
          <a:p>
            <a:pPr>
              <a:spcAft>
                <a:spcPts val="1000"/>
              </a:spcAft>
              <a:defRPr sz="1800"/>
            </a:pPr>
            <a:r>
              <a:t>Exact File Output Format in data/confirmed_reservations.txt:</a:t>
            </a:r>
          </a:p>
          <a:p>
            <a:pPr>
              <a:spcAft>
                <a:spcPts val="1000"/>
              </a:spcAft>
              <a:defRPr sz="1800"/>
            </a:pPr>
            <a:r>
              <a:t>   Merve Okcu | 34ABC123 | 2026-10-20 09:00 to 2026-10-20 18:00 | 2026-10-18 22:05:00</a:t>
            </a:r>
          </a:p>
          <a:p>
            <a:pPr>
              <a:spcAft>
                <a:spcPts val="1000"/>
              </a:spcAft>
              <a:defRPr sz="1800"/>
            </a:pPr>
            <a:r>
              <a:t>4-Layer Security &amp; Reliability Hardening:</a:t>
            </a:r>
          </a:p>
          <a:p>
            <a:pPr>
              <a:spcAft>
                <a:spcPts val="1000"/>
              </a:spcAft>
              <a:defRPr sz="1800"/>
            </a:pPr>
            <a:r>
              <a:t>   1. Status Gate: Rejects any ticket where status != 'CONFIRMED'.</a:t>
            </a:r>
          </a:p>
          <a:p>
            <a:pPr>
              <a:spcAft>
                <a:spcPts val="1000"/>
              </a:spcAft>
              <a:defRPr sz="1800"/>
            </a:pPr>
            <a:r>
              <a:t>   2. Token Auth: Requires valid X-MCP-Api-Key header.</a:t>
            </a:r>
          </a:p>
          <a:p>
            <a:pPr>
              <a:spcAft>
                <a:spcPts val="1000"/>
              </a:spcAft>
              <a:defRPr sz="1800"/>
            </a:pPr>
            <a:r>
              <a:t>   3. Delimiter Injection Prevention: Pydantic @field_validator blocks '|' and '\n' characters.</a:t>
            </a:r>
          </a:p>
          <a:p>
            <a:pPr>
              <a:spcAft>
                <a:spcPts val="1000"/>
              </a:spcAft>
              <a:defRPr sz="1800"/>
            </a:pPr>
            <a:r>
              <a:t>   4. Concurrency Safety: Uses threading.Lock() + flush() for atomic 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Stage 4: LangGraph Orchestration &amp; Load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LangGraph StateGraph connecting 3 Nodes via Conditional Edges:</a:t>
            </a:r>
          </a:p>
          <a:p>
            <a:pPr>
              <a:spcAft>
                <a:spcPts val="1000"/>
              </a:spcAft>
              <a:defRPr sz="1800"/>
            </a:pPr>
            <a:r>
              <a:t>   Node 1 (user_interaction) -&gt; Node 2 (admin_approval) -&gt; Node 3 (data_recording).</a:t>
            </a:r>
          </a:p>
          <a:p>
            <a:pPr>
              <a:spcAft>
                <a:spcPts val="1000"/>
              </a:spcAft>
              <a:defRPr sz="1800"/>
            </a:pPr>
            <a:r>
              <a:t>Checkpointer (MemorySaver): Freezes thread state at AWAITING_ADMIN_APPROVAL and resumes on Admin decision.</a:t>
            </a:r>
          </a:p>
          <a:p>
            <a:pPr>
              <a:spcAft>
                <a:spcPts val="1000"/>
              </a:spcAft>
              <a:defRPr sz="1800"/>
            </a:pPr>
            <a:r>
              <a:t>Concurrent Load Test Results (30 requests x 6 concurrent worker threads per component):</a:t>
            </a:r>
          </a:p>
          <a:p>
            <a:pPr>
              <a:spcAft>
                <a:spcPts val="1000"/>
              </a:spcAft>
              <a:defRPr sz="1800"/>
            </a:pPr>
            <a:r>
              <a:t>   • Stage 1 Chatbot RAG: 100% Success | 400.3 req/s | p50: 9.36 ms</a:t>
            </a:r>
          </a:p>
          <a:p>
            <a:pPr>
              <a:spcAft>
                <a:spcPts val="1000"/>
              </a:spcAft>
              <a:defRPr sz="1800"/>
            </a:pPr>
            <a:r>
              <a:t>   • Stage 2 Admin Confirmation: 100% Success | 38.6 req/s | p50: 50.77 ms</a:t>
            </a:r>
          </a:p>
          <a:p>
            <a:pPr>
              <a:spcAft>
                <a:spcPts val="1000"/>
              </a:spcAft>
              <a:defRPr sz="1800"/>
            </a:pPr>
            <a:r>
              <a:t>   • Stage 3 MCP File Recording: 100% Success | 32.5 req/s | p50: 73.12 ms</a:t>
            </a:r>
          </a:p>
          <a:p>
            <a:pPr>
              <a:spcAft>
                <a:spcPts val="1000"/>
              </a:spcAft>
              <a:defRPr sz="1800"/>
            </a:pPr>
            <a:r>
              <a:t>   • Stage 4 End-to-End LangGraph: 100% Success | 21.2 req/s | p50: 228.10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Live Demo Walkthrough &amp; Bonus Engineering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/>
            </a:pPr>
            <a:r>
              <a:t>Interactive Demo (Streamlit Multi-Tab UI + CLI + FastAPI Swagger /docs):</a:t>
            </a:r>
          </a:p>
          <a:p>
            <a:pPr>
              <a:spcAft>
                <a:spcPts val="1000"/>
              </a:spcAft>
              <a:defRPr sz="1800"/>
            </a:pPr>
            <a:r>
              <a:t>   [Insert Screenshot / Video: Tab 1 — Customer Chatting &amp; Providing 4 Reservation Slots]</a:t>
            </a:r>
          </a:p>
          <a:p>
            <a:pPr>
              <a:spcAft>
                <a:spcPts val="1000"/>
              </a:spcAft>
              <a:defRPr sz="1800"/>
            </a:pPr>
            <a:r>
              <a:t>   [Insert Screenshot / Video: Tab 2 — Human Administrator Reviewing Briefing &amp; Clicking CONFIRM]</a:t>
            </a:r>
          </a:p>
          <a:p>
            <a:pPr>
              <a:spcAft>
                <a:spcPts val="1000"/>
              </a:spcAft>
              <a:defRPr sz="1800"/>
            </a:pPr>
            <a:r>
              <a:t>   [Insert Screenshot / Video: Tab 3 — MCP Server Entry in confirmed_reservations.txt &amp; Live SQL Table]</a:t>
            </a:r>
          </a:p>
          <a:p>
            <a:pPr>
              <a:spcAft>
                <a:spcPts val="1000"/>
              </a:spcAft>
              <a:defRPr sz="1800"/>
            </a:pPr>
            <a:r>
              <a:t>Bonus Artifacts Included in Repository:</a:t>
            </a:r>
          </a:p>
          <a:p>
            <a:pPr>
              <a:spcAft>
                <a:spcPts val="1000"/>
              </a:spcAft>
              <a:defRPr sz="1800"/>
            </a:pPr>
            <a:r>
              <a:t>   • 12+ Automated Pytest Unit &amp; Integration Tests across all modules (100% Passing)</a:t>
            </a:r>
          </a:p>
          <a:p>
            <a:pPr>
              <a:spcAft>
                <a:spcPts val="1000"/>
              </a:spcAft>
              <a:defRPr sz="1800"/>
            </a:pPr>
            <a:r>
              <a:t>   • GitHub Actions CI/CD (.github/workflows/ci.yml), Dockerfile, docker-compose.yml &amp; Terraform (terraform/main.tf)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